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9" r:id="rId16"/>
    <p:sldId id="268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533EB4-A806-1456-03DE-771060C51E2F}" v="347" dt="2026-10-27T14:57:55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7153" autoAdjust="0"/>
    <p:restoredTop sz="94660"/>
  </p:normalViewPr>
  <p:slideViewPr>
    <p:cSldViewPr snapToGrid="0">
      <p:cViewPr varScale="1">
        <p:scale>
          <a:sx n="70" d="100"/>
          <a:sy n="70" d="100"/>
        </p:scale>
        <p:origin x="92" y="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031C3-6683-CBD1-D87E-E46110C9D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877FCE-C691-5601-3580-0C54293F7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40987-5DFF-90E2-B4FE-953959BCF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5666C-A325-40C2-881D-0CE85FDC5A7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94D4E-6A74-D548-F5F2-7ABD2F141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BBBF8-842C-63E2-901B-0DFABD38F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35906-CE8C-4D08-B9F1-7DB7DFF5D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33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13C99-E2D0-6BF9-F94B-7177C1F7C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2A831-CFD3-139A-86D8-AC72531FA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EE471-7823-6C0A-5013-7C1DE2AED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5666C-A325-40C2-881D-0CE85FDC5A7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E8101-D938-4DDE-85A5-1CD32724B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4176D-8755-B6EF-540F-D35FC20F6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35906-CE8C-4D08-B9F1-7DB7DFF5D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114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CE14B-83A0-3E44-96AD-AAE540195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E4C6E-80E1-A46A-6F63-1D5BDCF04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B7527-ECFB-F62B-357C-6D5872FAE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5666C-A325-40C2-881D-0CE85FDC5A7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85567-7E9A-BA2B-C0A4-26A05FEBD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B1746-D011-7E65-3388-EA2BACBB5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35906-CE8C-4D08-B9F1-7DB7DFF5D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533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A086C-BB87-EB7D-3694-D02AE13BD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CCD14-3E24-90F2-B02C-68085F362B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2E3C7-3883-2F3B-A205-BAAE8517C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C237F-7352-F0EE-2FA1-09F447A3B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5666C-A325-40C2-881D-0CE85FDC5A7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6940C-C577-CBB7-8A7B-7C19F40C5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2B953-CA49-99B6-0DED-1C0465C95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35906-CE8C-4D08-B9F1-7DB7DFF5D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667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30DA2-CE7B-0DC0-8209-A11751C3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7B54F-FAEF-4D53-20F2-E0B9D89CD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F061D-1120-EBE0-0E0B-074D21CB6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192EAC-6D07-43B1-0651-03447066B0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19B9BF-666E-715F-24AF-31E5E2C745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793CA1-A715-71E1-ADB6-3C4038EAE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5666C-A325-40C2-881D-0CE85FDC5A7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D47A3C-175D-5D76-F46B-AE3E4DC0D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881BAE-1489-F625-F8E0-3CC2D54D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35906-CE8C-4D08-B9F1-7DB7DFF5D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528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2303-C7CE-3E1B-4941-D2051739E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D5FEE0-05DF-D7F0-C9CC-01D83F6FB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5666C-A325-40C2-881D-0CE85FDC5A7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E20AD-90BE-ADE2-B44C-A11492A9C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6565BE-5634-D2A2-A03F-C562E6A65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35906-CE8C-4D08-B9F1-7DB7DFF5D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341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F7076F-17A3-5875-282B-695E3D63A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5666C-A325-40C2-881D-0CE85FDC5A7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2131DE-C017-04DD-F3B7-E73C4A851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3DF76-EBA2-A4E0-642E-8E122C00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35906-CE8C-4D08-B9F1-7DB7DFF5D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70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062B-21DB-9CE9-9E89-EED1CDC67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DC8B7-2E64-24DB-B758-BF247184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D2362D-4455-5ACF-F16C-08E738F08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9444D-C10F-16CA-B0EE-8E0289F0F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5666C-A325-40C2-881D-0CE85FDC5A7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4FCB-8C04-9242-89E7-525818F36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DD5864-273C-D34A-A358-27D7A77F2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35906-CE8C-4D08-B9F1-7DB7DFF5D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07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0B5A7-B24D-67D0-BFDF-1638DA419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D2457A-BC9D-F848-4ECD-19E5796E466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D1937-6834-3F23-BF06-8940560CCC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8F178-E592-94AB-2553-7E2B8080B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5666C-A325-40C2-881D-0CE85FDC5A7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0490B-55A9-41DC-DBDF-0BE01BBA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C94A8-2EDD-98AD-7B7A-C50AB41A5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35906-CE8C-4D08-B9F1-7DB7DFF5D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773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2E7FA-1DFA-2DB9-9DEC-3BC72BD9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26892D-3862-2FAB-E5B3-0FBB60FEC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3C7F4-7B18-D5C2-DD20-8FF45D45F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5666C-A325-40C2-881D-0CE85FDC5A7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77B96-363B-8EE5-697C-3DA3B8980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5BAA2-83C7-4CE1-B163-D4861BECC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35906-CE8C-4D08-B9F1-7DB7DFF5D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41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FC1EBA-4AC9-00C7-B515-BB3BB9A6C8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D66CD-06D5-AD69-8C39-7588F5221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0F356-16D5-5E32-1830-9DE632DBA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5666C-A325-40C2-881D-0CE85FDC5A7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116C3-4297-6569-AB6B-C6D18100E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C8CB8-A5A1-9AE8-0244-EC703A3EA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35906-CE8C-4D08-B9F1-7DB7DFF5D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5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87C8FE-E6CD-9FEB-FC69-03F953366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1E271-5DD1-64C6-6052-8A601AB76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DF4C9-5F90-2DF5-732D-29A2D4C866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5666C-A325-40C2-881D-0CE85FDC5A77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1F8EC-A78D-F67F-18BF-D9323BC58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B4539-96E6-050C-8268-168B5968B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A35906-CE8C-4D08-B9F1-7DB7DFF5D9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3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2BC0B-0804-D74B-921D-3A07A0DCE1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STZhongsong" panose="02010600040101010101" pitchFamily="2" charset="-122"/>
                <a:ea typeface="STZhongsong" panose="02010600040101010101" pitchFamily="2" charset="-122"/>
              </a:rPr>
              <a:t>ECSE 428 </a:t>
            </a:r>
            <a:br>
              <a:rPr lang="en-US" dirty="0">
                <a:latin typeface="STZhongsong" panose="02010600040101010101" pitchFamily="2" charset="-122"/>
                <a:ea typeface="STZhongsong" panose="02010600040101010101" pitchFamily="2" charset="-122"/>
              </a:rPr>
            </a:br>
            <a:r>
              <a:rPr lang="en-US" dirty="0">
                <a:latin typeface="STZhongsong" panose="02010600040101010101" pitchFamily="2" charset="-122"/>
                <a:ea typeface="STZhongsong" panose="02010600040101010101" pitchFamily="2" charset="-122"/>
              </a:rPr>
              <a:t>Assignment A TDD Steps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67E6FB-7859-B715-FA36-7D2A070A7A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Yanni Klironomos, Mahad Haider</a:t>
            </a:r>
          </a:p>
        </p:txBody>
      </p:sp>
    </p:spTree>
    <p:extLst>
      <p:ext uri="{BB962C8B-B14F-4D97-AF65-F5344CB8AC3E}">
        <p14:creationId xmlns:p14="http://schemas.microsoft.com/office/powerpoint/2010/main" val="2280446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8C95D-8545-AC1D-70C9-A566E50BD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Test ID: T-PUSH-REAL1</a:t>
            </a:r>
            <a:br>
              <a:rPr lang="en-US" sz="1600" dirty="0"/>
            </a:br>
            <a:r>
              <a:rPr lang="en-US" sz="1600" dirty="0"/>
              <a:t>Statement of unit test: Verify that pushing a real number onto the stack and popping it returns the same number.</a:t>
            </a:r>
            <a:br>
              <a:rPr lang="en-US" sz="1600" dirty="0"/>
            </a:br>
            <a:r>
              <a:rPr lang="en-US" sz="1600" dirty="0"/>
              <a:t>Expected results: 5 + j0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75585-BC4E-01FA-B0CA-A40574FD9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346" cy="4351338"/>
          </a:xfrm>
        </p:spPr>
        <p:txBody>
          <a:bodyPr>
            <a:normAutofit/>
          </a:bodyPr>
          <a:lstStyle/>
          <a:p>
            <a:r>
              <a:rPr lang="en-US" sz="1100" dirty="0"/>
              <a:t>Screen capture of unit test code: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9DA29FB-08B8-4D7D-3727-B621EB17F177}"/>
              </a:ext>
            </a:extLst>
          </p:cNvPr>
          <p:cNvSpPr txBox="1">
            <a:spLocks/>
          </p:cNvSpPr>
          <p:nvPr/>
        </p:nvSpPr>
        <p:spPr>
          <a:xfrm>
            <a:off x="4370222" y="181513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failing: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AE6106F-2C2C-B5EF-127C-DA23F701148F}"/>
              </a:ext>
            </a:extLst>
          </p:cNvPr>
          <p:cNvSpPr txBox="1">
            <a:spLocks/>
          </p:cNvSpPr>
          <p:nvPr/>
        </p:nvSpPr>
        <p:spPr>
          <a:xfrm>
            <a:off x="8763848" y="1891580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of code changes highlighted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B0A8B62-C4AD-9787-0ADD-60D6E5E09373}"/>
              </a:ext>
            </a:extLst>
          </p:cNvPr>
          <p:cNvSpPr txBox="1">
            <a:spLocks/>
          </p:cNvSpPr>
          <p:nvPr/>
        </p:nvSpPr>
        <p:spPr>
          <a:xfrm>
            <a:off x="879958" y="4067250"/>
            <a:ext cx="2841346" cy="194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passing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9A9CF9A-77A3-E72B-F903-64FE57543FD0}"/>
              </a:ext>
            </a:extLst>
          </p:cNvPr>
          <p:cNvSpPr txBox="1">
            <a:spLocks/>
          </p:cNvSpPr>
          <p:nvPr/>
        </p:nvSpPr>
        <p:spPr>
          <a:xfrm>
            <a:off x="4804324" y="4067249"/>
            <a:ext cx="2841346" cy="194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illustrating all previous unit tests still pass after code changes</a:t>
            </a:r>
          </a:p>
          <a:p>
            <a:endParaRPr lang="en-US" sz="1100" dirty="0"/>
          </a:p>
          <a:p>
            <a:pPr marL="0" indent="0">
              <a:buNone/>
            </a:pPr>
            <a:r>
              <a:rPr lang="en-US" sz="1100" dirty="0"/>
              <a:t>N/A: no prior tests since this is the 1</a:t>
            </a:r>
            <a:r>
              <a:rPr lang="en-US" sz="1100" baseline="30000" dirty="0"/>
              <a:t>st</a:t>
            </a:r>
            <a:r>
              <a:rPr lang="en-US" sz="1100" dirty="0"/>
              <a:t> test and it passes, as required.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05E1BAE-5BE8-34CE-E199-477A40C9F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70" y="2427702"/>
            <a:ext cx="3024970" cy="90253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764FBC4-E9A6-AC3A-04C9-DD66862E9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304" y="2609736"/>
            <a:ext cx="3720641" cy="53846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486F1C5-B3F7-C6F8-637C-F779F49B7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814" y="2609737"/>
            <a:ext cx="4335186" cy="53846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BB1CA4D-E472-6E17-4ADB-0164024790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084" y="4804264"/>
            <a:ext cx="4348863" cy="50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09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03FF8-0377-A25E-CD6D-DD5BAF7B5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2109-C039-37E0-5907-7C2EE06FF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Test ID: T-POP-ERR1</a:t>
            </a:r>
            <a:br>
              <a:rPr lang="en-US" sz="1600" dirty="0"/>
            </a:br>
            <a:r>
              <a:rPr lang="en-US" sz="1600" dirty="0"/>
              <a:t>Statement of unit test: Verify that popping from an empty stack produces a stack underflow error.</a:t>
            </a:r>
            <a:br>
              <a:rPr lang="en-US" sz="1600" dirty="0"/>
            </a:br>
            <a:r>
              <a:rPr lang="en-US" sz="1600" dirty="0"/>
              <a:t>Expected results: Error: stack underflow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C0104-4249-5412-A042-3E0CA3EC2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346" cy="4351338"/>
          </a:xfrm>
        </p:spPr>
        <p:txBody>
          <a:bodyPr>
            <a:normAutofit/>
          </a:bodyPr>
          <a:lstStyle/>
          <a:p>
            <a:r>
              <a:rPr lang="en-US" sz="1100" dirty="0"/>
              <a:t>Screen capture of unit test code: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D9A2EE2-4249-E2CE-53E8-83015D4E0DED}"/>
              </a:ext>
            </a:extLst>
          </p:cNvPr>
          <p:cNvSpPr txBox="1">
            <a:spLocks/>
          </p:cNvSpPr>
          <p:nvPr/>
        </p:nvSpPr>
        <p:spPr>
          <a:xfrm>
            <a:off x="3763061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failing: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A3584D8-11FF-88F1-CDA9-5F0EA6E0C931}"/>
              </a:ext>
            </a:extLst>
          </p:cNvPr>
          <p:cNvSpPr txBox="1">
            <a:spLocks/>
          </p:cNvSpPr>
          <p:nvPr/>
        </p:nvSpPr>
        <p:spPr>
          <a:xfrm>
            <a:off x="8104462" y="1715143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of code changes highlighted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AE3784-009E-90E9-393F-7FCB63FF4911}"/>
              </a:ext>
            </a:extLst>
          </p:cNvPr>
          <p:cNvSpPr txBox="1">
            <a:spLocks/>
          </p:cNvSpPr>
          <p:nvPr/>
        </p:nvSpPr>
        <p:spPr>
          <a:xfrm>
            <a:off x="879958" y="4067250"/>
            <a:ext cx="2841346" cy="194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passing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C07BE8B-2E4C-2033-B962-0277D14C6B1B}"/>
              </a:ext>
            </a:extLst>
          </p:cNvPr>
          <p:cNvSpPr txBox="1">
            <a:spLocks/>
          </p:cNvSpPr>
          <p:nvPr/>
        </p:nvSpPr>
        <p:spPr>
          <a:xfrm>
            <a:off x="7755452" y="3890812"/>
            <a:ext cx="2841346" cy="194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illustrating all previous unit tests still pass after code changes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05AD4D9-B715-651F-F38B-CA26DF417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4" y="2537974"/>
            <a:ext cx="3158867" cy="48751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9DFDE00-5851-FAB1-4E6A-1CC4311D8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872" y="2386138"/>
            <a:ext cx="3049545" cy="98566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A4AAAA5-FC4B-809C-0D51-EBA5E7E133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526" y="2482998"/>
            <a:ext cx="4567294" cy="64790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B5515C7-C3FD-0BF0-E5B4-4CFE00A0B6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981" y="4995524"/>
            <a:ext cx="4848902" cy="45726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C7E807B-CD29-AD50-ED85-8DEEDD4A5F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116" y="4762517"/>
            <a:ext cx="4848903" cy="55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746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B763E-D9F5-F1C5-EA60-F7F5A4901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EEBE-07F1-4BD5-1B69-39FF45757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Test ID: T-ADD-REAL1</a:t>
            </a:r>
            <a:br>
              <a:rPr lang="en-US" sz="1600" dirty="0"/>
            </a:br>
            <a:r>
              <a:rPr lang="en-US" sz="1600" dirty="0"/>
              <a:t>Statement of unit test: Verify that adding two real numbers (2 and 5) returns the correct result.</a:t>
            </a:r>
            <a:br>
              <a:rPr lang="en-US" sz="1600" dirty="0"/>
            </a:br>
            <a:r>
              <a:rPr lang="en-US" sz="1600" dirty="0"/>
              <a:t>Expected results: 7 + j0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7E2A5-0864-5D04-33E4-764197373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346" cy="4351338"/>
          </a:xfrm>
        </p:spPr>
        <p:txBody>
          <a:bodyPr>
            <a:normAutofit/>
          </a:bodyPr>
          <a:lstStyle/>
          <a:p>
            <a:r>
              <a:rPr lang="en-US" sz="1100" dirty="0"/>
              <a:t>Screen capture of unit test code: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48DD1F-8CE3-5C25-E2E9-284FB226FCE4}"/>
              </a:ext>
            </a:extLst>
          </p:cNvPr>
          <p:cNvSpPr txBox="1">
            <a:spLocks/>
          </p:cNvSpPr>
          <p:nvPr/>
        </p:nvSpPr>
        <p:spPr>
          <a:xfrm>
            <a:off x="3763061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failing: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5FCA888-0BEB-11D5-5C50-62B1907342E8}"/>
              </a:ext>
            </a:extLst>
          </p:cNvPr>
          <p:cNvSpPr txBox="1">
            <a:spLocks/>
          </p:cNvSpPr>
          <p:nvPr/>
        </p:nvSpPr>
        <p:spPr>
          <a:xfrm>
            <a:off x="8377734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of code changes highlighted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63BA1D1-90F2-BDB4-4257-713D3EFD4943}"/>
              </a:ext>
            </a:extLst>
          </p:cNvPr>
          <p:cNvSpPr txBox="1">
            <a:spLocks/>
          </p:cNvSpPr>
          <p:nvPr/>
        </p:nvSpPr>
        <p:spPr>
          <a:xfrm>
            <a:off x="779205" y="4491447"/>
            <a:ext cx="2841346" cy="194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passing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0FB6335-AF47-0F4D-5B64-069B35F933CA}"/>
              </a:ext>
            </a:extLst>
          </p:cNvPr>
          <p:cNvSpPr txBox="1">
            <a:spLocks/>
          </p:cNvSpPr>
          <p:nvPr/>
        </p:nvSpPr>
        <p:spPr>
          <a:xfrm>
            <a:off x="7674561" y="4229403"/>
            <a:ext cx="2841346" cy="194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illustrating all previous unit tests still pass after code changes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E7CC97A-FD69-4B66-90A9-6898C3485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10" y="2491175"/>
            <a:ext cx="3084437" cy="2904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E19811-BE09-F266-81C5-6D29E5DDF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546" y="2314262"/>
            <a:ext cx="3566996" cy="120892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ECBE776-18B0-AE96-E13A-F02FABFC8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010" y="5253300"/>
            <a:ext cx="4344006" cy="37152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A857290-3BC9-C9B8-0B55-B4432CFEBD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5464" y="2314262"/>
            <a:ext cx="2754737" cy="159083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4551598-0020-8FF1-1ACB-A1039457E4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8310" y="5027953"/>
            <a:ext cx="5049401" cy="707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7674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382E0-3864-C198-380B-DC66A570D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3B21B-61C2-F0F1-429A-AF6F4ACDF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Test ID: T-ADD-ERR1</a:t>
            </a:r>
            <a:br>
              <a:rPr lang="en-US" sz="1800" dirty="0"/>
            </a:br>
            <a:r>
              <a:rPr lang="en-US" sz="1800" dirty="0"/>
              <a:t>Statement of unit test: Verify that adding numbers when the stack contains fewer than two operands produces a stack underflow error.</a:t>
            </a:r>
            <a:br>
              <a:rPr lang="en-US" sz="1800" dirty="0"/>
            </a:br>
            <a:r>
              <a:rPr lang="en-US" sz="1800" dirty="0"/>
              <a:t>Expected results: Error: stack underflow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C87A0-4182-4209-4CD1-FDC16817E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346" cy="4351338"/>
          </a:xfrm>
        </p:spPr>
        <p:txBody>
          <a:bodyPr>
            <a:normAutofit/>
          </a:bodyPr>
          <a:lstStyle/>
          <a:p>
            <a:r>
              <a:rPr lang="en-US" sz="1100" dirty="0"/>
              <a:t>Screen capture of unit test code: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12BAEE-5B8F-1DCF-FCF9-B4E7EAC67C4C}"/>
              </a:ext>
            </a:extLst>
          </p:cNvPr>
          <p:cNvSpPr txBox="1">
            <a:spLocks/>
          </p:cNvSpPr>
          <p:nvPr/>
        </p:nvSpPr>
        <p:spPr>
          <a:xfrm>
            <a:off x="4361384" y="1807820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failing: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6D6C160-8F11-F286-1937-9BBA8645C9B5}"/>
              </a:ext>
            </a:extLst>
          </p:cNvPr>
          <p:cNvSpPr txBox="1">
            <a:spLocks/>
          </p:cNvSpPr>
          <p:nvPr/>
        </p:nvSpPr>
        <p:spPr>
          <a:xfrm>
            <a:off x="8691212" y="1546340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of code changes highlighted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2B3DF6E-E207-0D28-301F-CA0B7DB9397D}"/>
              </a:ext>
            </a:extLst>
          </p:cNvPr>
          <p:cNvSpPr txBox="1">
            <a:spLocks/>
          </p:cNvSpPr>
          <p:nvPr/>
        </p:nvSpPr>
        <p:spPr>
          <a:xfrm>
            <a:off x="879958" y="4067250"/>
            <a:ext cx="2841346" cy="194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passing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7B967BB-544B-2E13-437B-5E70F167F634}"/>
              </a:ext>
            </a:extLst>
          </p:cNvPr>
          <p:cNvSpPr txBox="1">
            <a:spLocks/>
          </p:cNvSpPr>
          <p:nvPr/>
        </p:nvSpPr>
        <p:spPr>
          <a:xfrm>
            <a:off x="6615812" y="3950118"/>
            <a:ext cx="2841346" cy="194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illustrating all previous unit tests still pass after code changes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1B9B573-A8BD-2961-6F0B-2FD437669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0" y="2588758"/>
            <a:ext cx="3338808" cy="4039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CE260D9-B132-58C3-9B0F-63F93BED0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304" y="2220379"/>
            <a:ext cx="3898443" cy="155698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9DA3094-7BE7-07EB-CDE4-6040FA8A4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92" y="5016830"/>
            <a:ext cx="5382376" cy="35247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D42A93C-9B61-F6BD-3F02-537568BBC8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2649" y="4495242"/>
            <a:ext cx="5146515" cy="140243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786BDCA-4FEF-AB12-C463-ABF99601D1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2810" y="2422098"/>
            <a:ext cx="4042295" cy="79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651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0FB65-D5ED-0528-0447-F96644D77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7CEF1-C4EE-CBE3-4201-7C19EFDCC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Test ID: T-SUB-REAL1</a:t>
            </a:r>
            <a:br>
              <a:rPr lang="en-US" sz="1600" dirty="0"/>
            </a:br>
            <a:r>
              <a:rPr lang="en-US" sz="1600" dirty="0"/>
              <a:t>Statement of unit test: Verify that subtracting 2 from 5 returns the correct result.</a:t>
            </a:r>
            <a:br>
              <a:rPr lang="en-US" sz="1600" dirty="0"/>
            </a:br>
            <a:r>
              <a:rPr lang="en-US" sz="1600" dirty="0"/>
              <a:t>Expected results: 3 + j0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574BE-4E5D-4C09-8A8B-109FA28F5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346" cy="4351338"/>
          </a:xfrm>
        </p:spPr>
        <p:txBody>
          <a:bodyPr>
            <a:normAutofit/>
          </a:bodyPr>
          <a:lstStyle/>
          <a:p>
            <a:r>
              <a:rPr lang="en-US" sz="1100" dirty="0"/>
              <a:t>Screen capture of unit test code: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BA5B4B-41B3-EF33-85BB-647E0BB9976B}"/>
              </a:ext>
            </a:extLst>
          </p:cNvPr>
          <p:cNvSpPr txBox="1">
            <a:spLocks/>
          </p:cNvSpPr>
          <p:nvPr/>
        </p:nvSpPr>
        <p:spPr>
          <a:xfrm>
            <a:off x="4448312" y="1822450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failing: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6E1079-800F-BEDA-666C-5F0C73537CC6}"/>
              </a:ext>
            </a:extLst>
          </p:cNvPr>
          <p:cNvSpPr txBox="1">
            <a:spLocks/>
          </p:cNvSpPr>
          <p:nvPr/>
        </p:nvSpPr>
        <p:spPr>
          <a:xfrm>
            <a:off x="8797035" y="1458379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of code changes highlighted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97246F-EE33-7F7C-DAF7-5BFA0335FE94}"/>
              </a:ext>
            </a:extLst>
          </p:cNvPr>
          <p:cNvSpPr txBox="1">
            <a:spLocks/>
          </p:cNvSpPr>
          <p:nvPr/>
        </p:nvSpPr>
        <p:spPr>
          <a:xfrm>
            <a:off x="879958" y="4067250"/>
            <a:ext cx="2841346" cy="194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passing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C6A0CC0-AE6A-1E9B-AC01-55D8EA9F5ACB}"/>
              </a:ext>
            </a:extLst>
          </p:cNvPr>
          <p:cNvSpPr txBox="1">
            <a:spLocks/>
          </p:cNvSpPr>
          <p:nvPr/>
        </p:nvSpPr>
        <p:spPr>
          <a:xfrm>
            <a:off x="7506310" y="4012748"/>
            <a:ext cx="2841346" cy="194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illustrating all previous unit tests still pass after code changes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ED04FD-4173-92B3-1264-084D66ECB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8" y="5114446"/>
            <a:ext cx="4334480" cy="3810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C1E6075-2AE2-409D-EF4B-FCEDFF715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5" y="2510427"/>
            <a:ext cx="3011426" cy="38105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92B134D-168D-501F-F13B-C7832F210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8708" y="2229903"/>
            <a:ext cx="3343383" cy="134272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35C7FF9-340F-A6D9-678C-F889796BC6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588" y="4570879"/>
            <a:ext cx="5717914" cy="141907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586D574-51DD-EA09-0A48-43DA7F918D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9893" y="2009922"/>
            <a:ext cx="2425545" cy="164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351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6D7D6-7027-C98B-133D-E627F7700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712C0-2230-3029-BDD3-68198341B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Test ID: T-SUB-ERR1</a:t>
            </a:r>
            <a:br>
              <a:rPr lang="en-US" sz="1600" dirty="0"/>
            </a:br>
            <a:r>
              <a:rPr lang="en-US" sz="1600" dirty="0"/>
              <a:t>Statement of unit test: Verify that subtracting when the stack contains fewer than two operands produces a stack underflow error.</a:t>
            </a:r>
            <a:br>
              <a:rPr lang="en-US" sz="1600" dirty="0"/>
            </a:br>
            <a:r>
              <a:rPr lang="en-US" sz="1600" dirty="0"/>
              <a:t>Expected results: Error: stack underflow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78366-799B-766B-3435-8D003FD21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346" cy="4351338"/>
          </a:xfrm>
        </p:spPr>
        <p:txBody>
          <a:bodyPr>
            <a:normAutofit/>
          </a:bodyPr>
          <a:lstStyle/>
          <a:p>
            <a:r>
              <a:rPr lang="en-US" sz="1100" dirty="0"/>
              <a:t>Screen capture of unit test code: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C76675-0566-7DC7-8CF3-05ECBA064ADD}"/>
              </a:ext>
            </a:extLst>
          </p:cNvPr>
          <p:cNvSpPr txBox="1">
            <a:spLocks/>
          </p:cNvSpPr>
          <p:nvPr/>
        </p:nvSpPr>
        <p:spPr>
          <a:xfrm>
            <a:off x="3763061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failing: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AA3B801-5DD3-03F0-CC88-0983703E16E6}"/>
              </a:ext>
            </a:extLst>
          </p:cNvPr>
          <p:cNvSpPr txBox="1">
            <a:spLocks/>
          </p:cNvSpPr>
          <p:nvPr/>
        </p:nvSpPr>
        <p:spPr>
          <a:xfrm>
            <a:off x="6936639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of code changes highlighted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4EDBB44-A558-0465-844D-1E7778C969C9}"/>
              </a:ext>
            </a:extLst>
          </p:cNvPr>
          <p:cNvSpPr txBox="1">
            <a:spLocks/>
          </p:cNvSpPr>
          <p:nvPr/>
        </p:nvSpPr>
        <p:spPr>
          <a:xfrm>
            <a:off x="859079" y="4229404"/>
            <a:ext cx="2841346" cy="194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passing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1C7D27E-38A3-132C-4B03-53170C658169}"/>
              </a:ext>
            </a:extLst>
          </p:cNvPr>
          <p:cNvSpPr txBox="1">
            <a:spLocks/>
          </p:cNvSpPr>
          <p:nvPr/>
        </p:nvSpPr>
        <p:spPr>
          <a:xfrm>
            <a:off x="6646164" y="4142037"/>
            <a:ext cx="2841346" cy="194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illustrating all previous unit tests still pass after code changes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1A3381-E11B-84E0-20D6-B5A6689C3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82" y="2462090"/>
            <a:ext cx="3833418" cy="5217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F8203A-7B46-7352-7281-784DD80F4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211" y="2321049"/>
            <a:ext cx="2749428" cy="13255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FC8C2F-306D-94A0-B521-CBDE6525D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7871" y="4963019"/>
            <a:ext cx="4391345" cy="8633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DA48709-610C-E1FE-65C6-0AF789752C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947" y="5097770"/>
            <a:ext cx="5496692" cy="5525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8C82FBD-B8BE-73E2-B028-75D25FBB7B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5453" y="2715962"/>
            <a:ext cx="3210991" cy="47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293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1F1E6-8B51-8B2E-4B03-9E20FA0EB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7F63-3A7C-E105-0462-89FAD13BC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Test ID: T-MUL-REAL1</a:t>
            </a:r>
            <a:br>
              <a:rPr lang="en-US" sz="1600" dirty="0"/>
            </a:br>
            <a:r>
              <a:rPr lang="en-US" sz="1600" dirty="0"/>
              <a:t>Statement of unit test: Verify that multiplying 3 by -2 returns the correct result.</a:t>
            </a:r>
            <a:br>
              <a:rPr lang="en-US" sz="1600" dirty="0"/>
            </a:br>
            <a:r>
              <a:rPr lang="en-US" sz="1600" dirty="0"/>
              <a:t>Expected results: -6 + j0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A2998-A9BD-9C1C-05F3-418A608A4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346" cy="4351338"/>
          </a:xfrm>
        </p:spPr>
        <p:txBody>
          <a:bodyPr>
            <a:normAutofit/>
          </a:bodyPr>
          <a:lstStyle/>
          <a:p>
            <a:r>
              <a:rPr lang="en-US" sz="1100" dirty="0"/>
              <a:t>Screen capture of unit test code: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22C0150-9621-3282-98A7-6D950EEE905C}"/>
              </a:ext>
            </a:extLst>
          </p:cNvPr>
          <p:cNvSpPr txBox="1">
            <a:spLocks/>
          </p:cNvSpPr>
          <p:nvPr/>
        </p:nvSpPr>
        <p:spPr>
          <a:xfrm>
            <a:off x="5510086" y="1751284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failing: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0C9036-5089-8955-D335-81490FF5102F}"/>
              </a:ext>
            </a:extLst>
          </p:cNvPr>
          <p:cNvSpPr txBox="1">
            <a:spLocks/>
          </p:cNvSpPr>
          <p:nvPr/>
        </p:nvSpPr>
        <p:spPr>
          <a:xfrm>
            <a:off x="9350654" y="1690688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of code changes highlighted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539F4A-CA11-4219-8F0B-36CD1C5486D6}"/>
              </a:ext>
            </a:extLst>
          </p:cNvPr>
          <p:cNvSpPr txBox="1">
            <a:spLocks/>
          </p:cNvSpPr>
          <p:nvPr/>
        </p:nvSpPr>
        <p:spPr>
          <a:xfrm>
            <a:off x="879958" y="4067250"/>
            <a:ext cx="2841346" cy="194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passing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82BF351-DE2E-F7D8-1711-D2FC7C23854F}"/>
              </a:ext>
            </a:extLst>
          </p:cNvPr>
          <p:cNvSpPr txBox="1">
            <a:spLocks/>
          </p:cNvSpPr>
          <p:nvPr/>
        </p:nvSpPr>
        <p:spPr>
          <a:xfrm>
            <a:off x="5757214" y="4001294"/>
            <a:ext cx="2841346" cy="194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illustrating all previous unit tests still pass after code changes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9466AC-14D5-CA77-0859-D056EB9BE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56" y="2885064"/>
            <a:ext cx="4387281" cy="6387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64445E-91F8-E6ED-F076-A29C7C617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752" y="2195327"/>
            <a:ext cx="3092033" cy="12336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5C22C9-8198-8045-360B-3F73E147D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5492" y="4804176"/>
            <a:ext cx="5392914" cy="9716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7D1BF1-4E0D-279A-DF5F-71F633B430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219" y="5019678"/>
            <a:ext cx="4534533" cy="4667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1ADC4E1-B260-08DF-43C0-283C11B608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2222" y="2451080"/>
            <a:ext cx="3799499" cy="81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575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4F152-0138-BFBB-7204-82F140B1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63B1-71F3-83C7-7F6A-D2E9DE99D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Test ID: T-MUL-ERR1</a:t>
            </a:r>
            <a:br>
              <a:rPr lang="en-US" sz="1600" dirty="0"/>
            </a:br>
            <a:r>
              <a:rPr lang="en-US" sz="1600" dirty="0"/>
              <a:t>Statement of unit test: Verify that multiplying when the stack contains fewer than two operands produces a stack underflow error.</a:t>
            </a:r>
            <a:br>
              <a:rPr lang="en-US" sz="1600" dirty="0"/>
            </a:br>
            <a:r>
              <a:rPr lang="en-US" sz="1600" dirty="0"/>
              <a:t>Expected results: Error: stack underflow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DA6B-B2E1-3910-160B-40CA46E65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346" cy="4351338"/>
          </a:xfrm>
        </p:spPr>
        <p:txBody>
          <a:bodyPr>
            <a:normAutofit/>
          </a:bodyPr>
          <a:lstStyle/>
          <a:p>
            <a:r>
              <a:rPr lang="en-US" sz="1100" dirty="0"/>
              <a:t>Screen capture of unit test code: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7E82F59-EBC0-3034-0988-81A4C248EA95}"/>
              </a:ext>
            </a:extLst>
          </p:cNvPr>
          <p:cNvSpPr txBox="1">
            <a:spLocks/>
          </p:cNvSpPr>
          <p:nvPr/>
        </p:nvSpPr>
        <p:spPr>
          <a:xfrm>
            <a:off x="3763061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failing: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D46325F-21BF-C39E-2F37-8EF48C9EAF3B}"/>
              </a:ext>
            </a:extLst>
          </p:cNvPr>
          <p:cNvSpPr txBox="1">
            <a:spLocks/>
          </p:cNvSpPr>
          <p:nvPr/>
        </p:nvSpPr>
        <p:spPr>
          <a:xfrm>
            <a:off x="8470696" y="1729428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of code changes highlighted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F8EF1CF-5445-A86F-F62F-6ABDD3CDF980}"/>
              </a:ext>
            </a:extLst>
          </p:cNvPr>
          <p:cNvSpPr txBox="1">
            <a:spLocks/>
          </p:cNvSpPr>
          <p:nvPr/>
        </p:nvSpPr>
        <p:spPr>
          <a:xfrm>
            <a:off x="879958" y="4067250"/>
            <a:ext cx="2841346" cy="194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passing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849E2A7-7ACB-7FB1-C95E-5E89AAD85755}"/>
              </a:ext>
            </a:extLst>
          </p:cNvPr>
          <p:cNvSpPr txBox="1">
            <a:spLocks/>
          </p:cNvSpPr>
          <p:nvPr/>
        </p:nvSpPr>
        <p:spPr>
          <a:xfrm>
            <a:off x="6687922" y="3994632"/>
            <a:ext cx="2841346" cy="194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illustrating all previous unit tests still pass after code changes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587A9D-5682-DEDE-AA24-D7F536603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3" y="2638117"/>
            <a:ext cx="3688431" cy="6166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C53C45-3A8A-0607-728E-1BD7547BE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358" y="2321538"/>
            <a:ext cx="3226750" cy="15835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962FF4-B6E9-950F-054F-1990198186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5395" y="2425023"/>
            <a:ext cx="4283341" cy="6166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01BBCD-3317-2245-8099-B5AFD05C5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639432"/>
            <a:ext cx="5867709" cy="12484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174D27-BB36-544E-EEA5-DA9B0550C9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290" y="5175672"/>
            <a:ext cx="5268060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602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7679A-6118-EDFF-E1B1-5FC6779A5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56E9-8DAE-E862-62AC-EF5D64E04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Test ID: T-DIV-REAL1</a:t>
            </a:r>
            <a:br>
              <a:rPr lang="en-US" sz="1600" dirty="0"/>
            </a:br>
            <a:r>
              <a:rPr lang="en-US" sz="1600" dirty="0"/>
              <a:t>Statement of unit test: Verify that dividing 8 by 2 returns the correct result.</a:t>
            </a:r>
            <a:br>
              <a:rPr lang="en-US" sz="1600" dirty="0"/>
            </a:br>
            <a:r>
              <a:rPr lang="en-US" sz="1600" dirty="0"/>
              <a:t>Expected results: 4 + j0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B4381-B1A5-7610-E9C8-E476F8C90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346" cy="4351338"/>
          </a:xfrm>
        </p:spPr>
        <p:txBody>
          <a:bodyPr>
            <a:normAutofit/>
          </a:bodyPr>
          <a:lstStyle/>
          <a:p>
            <a:r>
              <a:rPr lang="en-US" sz="1100" dirty="0"/>
              <a:t>Screen capture of unit test code: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3EF2FAC-DEFD-FAD9-2188-612C4EF827B8}"/>
              </a:ext>
            </a:extLst>
          </p:cNvPr>
          <p:cNvSpPr txBox="1">
            <a:spLocks/>
          </p:cNvSpPr>
          <p:nvPr/>
        </p:nvSpPr>
        <p:spPr>
          <a:xfrm>
            <a:off x="5177420" y="1766591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failing: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A7FC4E3-4383-6BB8-A88C-8EC94ED2B039}"/>
              </a:ext>
            </a:extLst>
          </p:cNvPr>
          <p:cNvSpPr txBox="1">
            <a:spLocks/>
          </p:cNvSpPr>
          <p:nvPr/>
        </p:nvSpPr>
        <p:spPr>
          <a:xfrm>
            <a:off x="9087782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of code changes highlighted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AFFDA60-CB27-EE61-10E8-9649D1D97459}"/>
              </a:ext>
            </a:extLst>
          </p:cNvPr>
          <p:cNvSpPr txBox="1">
            <a:spLocks/>
          </p:cNvSpPr>
          <p:nvPr/>
        </p:nvSpPr>
        <p:spPr>
          <a:xfrm>
            <a:off x="879958" y="4067250"/>
            <a:ext cx="2841346" cy="194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passing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6B0128-1B9A-1722-2B69-6FC16DD98BF5}"/>
              </a:ext>
            </a:extLst>
          </p:cNvPr>
          <p:cNvSpPr txBox="1">
            <a:spLocks/>
          </p:cNvSpPr>
          <p:nvPr/>
        </p:nvSpPr>
        <p:spPr>
          <a:xfrm>
            <a:off x="6738794" y="3942260"/>
            <a:ext cx="2841346" cy="194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illustrating all previous unit tests still pass after code changes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6BE5BA-65CF-073D-882D-7B6B0C5B6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67" y="2472477"/>
            <a:ext cx="4152696" cy="636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E81D28-940E-9330-6320-4E53D0465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327" y="2392588"/>
            <a:ext cx="3913129" cy="14328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B271A2-6088-79A1-ADFE-CFB813517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3555" y="2392588"/>
            <a:ext cx="3135573" cy="63654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E10AAC3-E070-7F71-8E65-D2C4A14A53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32" y="4783683"/>
            <a:ext cx="4324954" cy="3334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0BF9751-9478-6C72-5D66-E6BE1C165E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2566" y="4451452"/>
            <a:ext cx="2860854" cy="152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918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804E4-868A-79F3-AC2B-CF131C69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C4F53-66C0-3F97-73A9-23097339F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Test ID: T-DIV-ERR1</a:t>
            </a:r>
            <a:br>
              <a:rPr lang="en-US" sz="1600" dirty="0"/>
            </a:br>
            <a:r>
              <a:rPr lang="en-US" sz="1600" dirty="0"/>
              <a:t>Statement of unit test: Verify that dividing a real number by zero produces a division-by-zero error.</a:t>
            </a:r>
            <a:br>
              <a:rPr lang="en-US" sz="1600" dirty="0"/>
            </a:br>
            <a:r>
              <a:rPr lang="en-US" sz="1600" dirty="0"/>
              <a:t>Expected results: Error: division by zero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A7A8F-A905-A7D1-1976-A9FF7C322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346" cy="4351338"/>
          </a:xfrm>
        </p:spPr>
        <p:txBody>
          <a:bodyPr>
            <a:normAutofit/>
          </a:bodyPr>
          <a:lstStyle/>
          <a:p>
            <a:r>
              <a:rPr lang="en-US" sz="1100" dirty="0"/>
              <a:t>Screen capture of unit test code: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3FA09E-F369-E8D0-105C-9D03A1AAB994}"/>
              </a:ext>
            </a:extLst>
          </p:cNvPr>
          <p:cNvSpPr txBox="1">
            <a:spLocks/>
          </p:cNvSpPr>
          <p:nvPr/>
        </p:nvSpPr>
        <p:spPr>
          <a:xfrm>
            <a:off x="5225492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failing: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182D4A-909F-BFE4-5004-5E0ACCAB66EC}"/>
              </a:ext>
            </a:extLst>
          </p:cNvPr>
          <p:cNvSpPr txBox="1">
            <a:spLocks/>
          </p:cNvSpPr>
          <p:nvPr/>
        </p:nvSpPr>
        <p:spPr>
          <a:xfrm>
            <a:off x="8874296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of code changes highlighted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D30A60B-8C3B-E18C-7CC2-338FF1ED6D36}"/>
              </a:ext>
            </a:extLst>
          </p:cNvPr>
          <p:cNvSpPr txBox="1">
            <a:spLocks/>
          </p:cNvSpPr>
          <p:nvPr/>
        </p:nvSpPr>
        <p:spPr>
          <a:xfrm>
            <a:off x="879958" y="4067250"/>
            <a:ext cx="2841346" cy="194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passing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793464F-65F7-108D-C35F-0CC05E27452A}"/>
              </a:ext>
            </a:extLst>
          </p:cNvPr>
          <p:cNvSpPr txBox="1">
            <a:spLocks/>
          </p:cNvSpPr>
          <p:nvPr/>
        </p:nvSpPr>
        <p:spPr>
          <a:xfrm>
            <a:off x="6417390" y="4067250"/>
            <a:ext cx="2841346" cy="194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illustrating all previous unit tests still pass after code changes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1B8F11-20BD-4435-32DC-035DCB829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72" y="2512990"/>
            <a:ext cx="4463086" cy="4334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BB8AD1-4229-8ACD-8617-B1D10FAD8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865" y="2298878"/>
            <a:ext cx="3187435" cy="14893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536156-0DE4-13E7-19DC-5A38E7CF7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465" y="2512990"/>
            <a:ext cx="3525651" cy="59046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5E0AFC5-EFD1-F9F8-F2CA-A47C4A6A29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6684" y="4508437"/>
            <a:ext cx="3507767" cy="19431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870683-104C-2CB7-1B10-D611F3830B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358" y="5133885"/>
            <a:ext cx="4782217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498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2B46A-528A-94CC-30A6-5CB958B6C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383C1-577F-FB20-75A7-7299E3992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/>
              <a:t>Test ID: T-PUSH-CPLX1</a:t>
            </a:r>
            <a:br>
              <a:rPr lang="en-US" sz="1600" dirty="0"/>
            </a:br>
            <a:r>
              <a:rPr lang="en-US" sz="1600"/>
              <a:t>Statement of unit test: Verify that pushing a compact complex number onto the stack and popping it returns the formatted complex number.</a:t>
            </a:r>
            <a:br>
              <a:rPr lang="en-US" sz="1600" dirty="0"/>
            </a:br>
            <a:r>
              <a:rPr lang="en-US" sz="1600"/>
              <a:t>Expected results: -2.5 - j0.25</a:t>
            </a:r>
            <a:endParaRPr lang="en-US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2B762-376F-F12A-FB73-00EDFB0AD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346" cy="4351338"/>
          </a:xfrm>
        </p:spPr>
        <p:txBody>
          <a:bodyPr>
            <a:normAutofit/>
          </a:bodyPr>
          <a:lstStyle/>
          <a:p>
            <a:r>
              <a:rPr lang="en-US" sz="1100" dirty="0"/>
              <a:t>Screen capture of unit test code: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1F53BB1-D709-A213-F313-2F8140460691}"/>
              </a:ext>
            </a:extLst>
          </p:cNvPr>
          <p:cNvSpPr txBox="1">
            <a:spLocks/>
          </p:cNvSpPr>
          <p:nvPr/>
        </p:nvSpPr>
        <p:spPr>
          <a:xfrm>
            <a:off x="4993579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failing: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66B2926-BD97-115E-5947-86E8F7046364}"/>
              </a:ext>
            </a:extLst>
          </p:cNvPr>
          <p:cNvSpPr txBox="1">
            <a:spLocks/>
          </p:cNvSpPr>
          <p:nvPr/>
        </p:nvSpPr>
        <p:spPr>
          <a:xfrm>
            <a:off x="8874296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of code changes highlighted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8E2CDE7-0839-476C-281C-450D1AB5780A}"/>
              </a:ext>
            </a:extLst>
          </p:cNvPr>
          <p:cNvSpPr txBox="1">
            <a:spLocks/>
          </p:cNvSpPr>
          <p:nvPr/>
        </p:nvSpPr>
        <p:spPr>
          <a:xfrm>
            <a:off x="879958" y="4067250"/>
            <a:ext cx="2841346" cy="194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passing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02CCFAE-8FFB-3336-46E4-191CF264A2CC}"/>
              </a:ext>
            </a:extLst>
          </p:cNvPr>
          <p:cNvSpPr txBox="1">
            <a:spLocks/>
          </p:cNvSpPr>
          <p:nvPr/>
        </p:nvSpPr>
        <p:spPr>
          <a:xfrm>
            <a:off x="6417390" y="4067250"/>
            <a:ext cx="2841346" cy="194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illustrating all previous unit tests still pass after code changes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2EDD9B-8EFC-DBF1-3C99-A88804FF2F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24" t="2427" r="25919" b="-9400"/>
          <a:stretch>
            <a:fillRect/>
          </a:stretch>
        </p:blipFill>
        <p:spPr>
          <a:xfrm>
            <a:off x="473210" y="2532533"/>
            <a:ext cx="4020706" cy="5721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F0FD68-8B67-F3A6-6542-E5198EC07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930" y="2405311"/>
            <a:ext cx="3601234" cy="1421076"/>
          </a:xfrm>
          <a:prstGeom prst="rect">
            <a:avLst/>
          </a:prstGeom>
        </p:spPr>
      </p:pic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2EA4B61-7358-9C97-E7D8-4C8A916F95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625" y="2408181"/>
            <a:ext cx="3859192" cy="830372"/>
          </a:xfrm>
          <a:prstGeom prst="rect">
            <a:avLst/>
          </a:prstGeom>
        </p:spPr>
      </p:pic>
      <p:pic>
        <p:nvPicPr>
          <p:cNvPr id="11" name="Picture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36B055B-844B-D046-6586-F9512E7203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53" y="3255792"/>
            <a:ext cx="3887305" cy="8323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F3307B-B239-A1E0-BE6A-A7F20C423F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0" y="5221977"/>
            <a:ext cx="6067425" cy="257175"/>
          </a:xfrm>
          <a:prstGeom prst="rect">
            <a:avLst/>
          </a:prstGeom>
        </p:spPr>
      </p:pic>
      <p:pic>
        <p:nvPicPr>
          <p:cNvPr id="14" name="Picture 1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1E9E4DE-014B-9ECC-AAB8-4515A62385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6858" y="4647855"/>
            <a:ext cx="3884544" cy="213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13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65C68-9CDB-67B1-6972-A8F798079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5A94E-A4BC-381A-3661-98B2A79F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Test ID: T-PUSH-CPLX2</a:t>
            </a:r>
            <a:br>
              <a:rPr lang="en-US" sz="1600" dirty="0"/>
            </a:br>
            <a:r>
              <a:rPr lang="en-US" sz="1600" dirty="0"/>
              <a:t>Statement of unit test: Verify that pushing a spaced complex number parses correctly and ignores the </a:t>
            </a:r>
            <a:r>
              <a:rPr lang="en-US" sz="1600"/>
              <a:t>spaces.</a:t>
            </a:r>
            <a:br>
              <a:rPr lang="en-US" sz="1600" dirty="0"/>
            </a:br>
            <a:r>
              <a:rPr lang="en-US" sz="1600"/>
              <a:t>Expected</a:t>
            </a:r>
            <a:r>
              <a:rPr lang="en-US" sz="1600" dirty="0"/>
              <a:t> results: 3 + j4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1E6A1-6F59-725B-1586-C65B7E595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346" cy="4351338"/>
          </a:xfrm>
        </p:spPr>
        <p:txBody>
          <a:bodyPr>
            <a:normAutofit/>
          </a:bodyPr>
          <a:lstStyle/>
          <a:p>
            <a:r>
              <a:rPr lang="en-US" sz="1100" dirty="0"/>
              <a:t>Screen capture of unit test code: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4DBB04-8144-5227-DD56-40EA99E6E6A2}"/>
              </a:ext>
            </a:extLst>
          </p:cNvPr>
          <p:cNvSpPr txBox="1">
            <a:spLocks/>
          </p:cNvSpPr>
          <p:nvPr/>
        </p:nvSpPr>
        <p:spPr>
          <a:xfrm>
            <a:off x="4993579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failing: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10D075-3585-94E3-FBCC-FFBA849E898D}"/>
              </a:ext>
            </a:extLst>
          </p:cNvPr>
          <p:cNvSpPr txBox="1">
            <a:spLocks/>
          </p:cNvSpPr>
          <p:nvPr/>
        </p:nvSpPr>
        <p:spPr>
          <a:xfrm>
            <a:off x="8874296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of code changes highlighted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410294E-24CA-493F-4F16-1CEC7DD005A3}"/>
              </a:ext>
            </a:extLst>
          </p:cNvPr>
          <p:cNvSpPr txBox="1">
            <a:spLocks/>
          </p:cNvSpPr>
          <p:nvPr/>
        </p:nvSpPr>
        <p:spPr>
          <a:xfrm>
            <a:off x="879958" y="4067250"/>
            <a:ext cx="2841346" cy="194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passing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D720192-8BB4-F975-EC4A-2E4694911511}"/>
              </a:ext>
            </a:extLst>
          </p:cNvPr>
          <p:cNvSpPr txBox="1">
            <a:spLocks/>
          </p:cNvSpPr>
          <p:nvPr/>
        </p:nvSpPr>
        <p:spPr>
          <a:xfrm>
            <a:off x="6417390" y="4067250"/>
            <a:ext cx="2841346" cy="194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illustrating all previous unit tests still pass after code changes</a:t>
            </a:r>
          </a:p>
        </p:txBody>
      </p:sp>
      <p:pic>
        <p:nvPicPr>
          <p:cNvPr id="16" name="Picture 15" descr="A black background with different colored symbols&#10;&#10;AI-generated content may be incorrect.">
            <a:extLst>
              <a:ext uri="{FF2B5EF4-FFF2-40B4-BE49-F238E27FC236}">
                <a16:creationId xmlns:a16="http://schemas.microsoft.com/office/drawing/2014/main" id="{1D3D1FCB-48E2-E057-417E-152D2159C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67" y="2723289"/>
            <a:ext cx="3934744" cy="401542"/>
          </a:xfrm>
          <a:prstGeom prst="rect">
            <a:avLst/>
          </a:prstGeom>
        </p:spPr>
      </p:pic>
      <p:pic>
        <p:nvPicPr>
          <p:cNvPr id="18" name="Picture 17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C0B98F38-8BEA-7844-6FB8-ACC546698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385" y="2289112"/>
            <a:ext cx="3901808" cy="1370884"/>
          </a:xfrm>
          <a:prstGeom prst="rect">
            <a:avLst/>
          </a:prstGeom>
        </p:spPr>
      </p:pic>
      <p:pic>
        <p:nvPicPr>
          <p:cNvPr id="19" name="Picture 1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799C5071-D25A-E324-3B32-9DB4DCF73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1841" y="2286918"/>
            <a:ext cx="3896873" cy="137527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529170C-3C99-6EDB-A221-BAE5AA5F9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643" y="5043717"/>
            <a:ext cx="4859242" cy="259241"/>
          </a:xfrm>
          <a:prstGeom prst="rect">
            <a:avLst/>
          </a:prstGeom>
        </p:spPr>
      </p:pic>
      <p:pic>
        <p:nvPicPr>
          <p:cNvPr id="21" name="Picture 20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255A5FA-8270-05C2-8C26-4BD7895BF0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599" y="4512669"/>
            <a:ext cx="3945645" cy="210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680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65C68-9CDB-67B1-6972-A8F798079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5A94E-A4BC-381A-3661-98B2A79F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/>
              <a:t>Test ID: T-ADD-CPLX1</a:t>
            </a:r>
            <a:endParaRPr lang="en-US"/>
          </a:p>
          <a:p>
            <a:r>
              <a:rPr lang="en-US" sz="1600">
                <a:ea typeface="+mj-lt"/>
                <a:cs typeface="+mj-lt"/>
              </a:rPr>
              <a:t>Statement of unit test: Verify that adding two complex numbers returns the correct complex sum.</a:t>
            </a:r>
            <a:endParaRPr lang="en-US"/>
          </a:p>
          <a:p>
            <a:r>
              <a:rPr lang="en-US" sz="1600">
                <a:ea typeface="+mj-lt"/>
                <a:cs typeface="+mj-lt"/>
              </a:rPr>
              <a:t>Expected results: </a:t>
            </a:r>
            <a:r>
              <a:rPr lang="en-US" sz="1600">
                <a:latin typeface="Aptos Display"/>
              </a:rPr>
              <a:t>4 + j2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1E6A1-6F59-725B-1586-C65B7E595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346" cy="4351338"/>
          </a:xfrm>
        </p:spPr>
        <p:txBody>
          <a:bodyPr>
            <a:normAutofit/>
          </a:bodyPr>
          <a:lstStyle/>
          <a:p>
            <a:r>
              <a:rPr lang="en-US" sz="1100" dirty="0"/>
              <a:t>Screen capture of unit test code: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10D075-3585-94E3-FBCC-FFBA849E898D}"/>
              </a:ext>
            </a:extLst>
          </p:cNvPr>
          <p:cNvSpPr txBox="1">
            <a:spLocks/>
          </p:cNvSpPr>
          <p:nvPr/>
        </p:nvSpPr>
        <p:spPr>
          <a:xfrm>
            <a:off x="7788707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Code changes</a:t>
            </a:r>
            <a:br>
              <a:rPr lang="en-US" sz="1100" dirty="0"/>
            </a:br>
            <a:endParaRPr lang="en-US" sz="1100" dirty="0"/>
          </a:p>
          <a:p>
            <a:pPr marL="0" indent="0">
              <a:buNone/>
            </a:pPr>
            <a:r>
              <a:rPr lang="en-US" sz="1100" dirty="0"/>
              <a:t>None required. Python natively handles addition for complex types, so the existing </a:t>
            </a:r>
            <a:r>
              <a:rPr lang="en-US" sz="1100" dirty="0" err="1"/>
              <a:t>stack.append</a:t>
            </a:r>
            <a:r>
              <a:rPr lang="en-US" sz="1100" dirty="0"/>
              <a:t>(a + b) works instantly.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410294E-24CA-493F-4F16-1CEC7DD005A3}"/>
              </a:ext>
            </a:extLst>
          </p:cNvPr>
          <p:cNvSpPr txBox="1">
            <a:spLocks/>
          </p:cNvSpPr>
          <p:nvPr/>
        </p:nvSpPr>
        <p:spPr>
          <a:xfrm>
            <a:off x="879958" y="4067250"/>
            <a:ext cx="2841346" cy="194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passing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D720192-8BB4-F975-EC4A-2E4694911511}"/>
              </a:ext>
            </a:extLst>
          </p:cNvPr>
          <p:cNvSpPr txBox="1">
            <a:spLocks/>
          </p:cNvSpPr>
          <p:nvPr/>
        </p:nvSpPr>
        <p:spPr>
          <a:xfrm>
            <a:off x="6417390" y="4067250"/>
            <a:ext cx="2841346" cy="194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illustrating all previous unit tests still pass after code changes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D9E9D50-0839-D138-FF40-7BF64CFD2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96" y="2344978"/>
            <a:ext cx="6668543" cy="5605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7D2B2F-026C-D10A-9F96-0DDE8B260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452" y="5199279"/>
            <a:ext cx="4629150" cy="238125"/>
          </a:xfrm>
          <a:prstGeom prst="rect">
            <a:avLst/>
          </a:prstGeom>
        </p:spPr>
      </p:pic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2243D8B-8042-445A-C800-92DA70A4F0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788" y="4537814"/>
            <a:ext cx="4017463" cy="207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626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C8633-C029-F6F6-D89E-7DD9C2745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BBFD0-7369-10F0-97BF-6F6CBEC2C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/>
              <a:t>Test ID: T-SUB-CPLX1</a:t>
            </a:r>
            <a:endParaRPr lang="en-US"/>
          </a:p>
          <a:p>
            <a:r>
              <a:rPr lang="en-US" sz="1600">
                <a:ea typeface="+mj-lt"/>
                <a:cs typeface="+mj-lt"/>
              </a:rPr>
              <a:t>Statement of unit test: Verify that subtracting two complex numbers returns the correct complex difference.</a:t>
            </a:r>
            <a:endParaRPr lang="en-US"/>
          </a:p>
          <a:p>
            <a:r>
              <a:rPr lang="en-US" sz="1600">
                <a:ea typeface="+mj-lt"/>
                <a:cs typeface="+mj-lt"/>
              </a:rPr>
              <a:t>Expected results: </a:t>
            </a:r>
            <a:r>
              <a:rPr lang="en-US" sz="1600">
                <a:latin typeface="Aptos Display"/>
              </a:rPr>
              <a:t>2 + j6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28885-F490-FCFE-3BB6-FC74D7C7C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346" cy="4351338"/>
          </a:xfrm>
        </p:spPr>
        <p:txBody>
          <a:bodyPr>
            <a:normAutofit/>
          </a:bodyPr>
          <a:lstStyle/>
          <a:p>
            <a:r>
              <a:rPr lang="en-US" sz="1100" dirty="0"/>
              <a:t>Screen capture of unit test code: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706B4AF-9229-331F-9F0E-E6F6E84DA546}"/>
              </a:ext>
            </a:extLst>
          </p:cNvPr>
          <p:cNvSpPr txBox="1">
            <a:spLocks/>
          </p:cNvSpPr>
          <p:nvPr/>
        </p:nvSpPr>
        <p:spPr>
          <a:xfrm>
            <a:off x="7788707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Code changes</a:t>
            </a:r>
            <a:br>
              <a:rPr lang="en-US" sz="1100" dirty="0"/>
            </a:br>
            <a:endParaRPr lang="en-US" sz="1100" dirty="0"/>
          </a:p>
          <a:p>
            <a:pPr marL="0" indent="0">
              <a:buNone/>
            </a:pPr>
            <a:r>
              <a:rPr lang="en-US" sz="1100"/>
              <a:t>None required. The existing stack.append(a - b) natively supports complex types.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78241C4-DC74-2921-0BB9-9FC30957F8CF}"/>
              </a:ext>
            </a:extLst>
          </p:cNvPr>
          <p:cNvSpPr txBox="1">
            <a:spLocks/>
          </p:cNvSpPr>
          <p:nvPr/>
        </p:nvSpPr>
        <p:spPr>
          <a:xfrm>
            <a:off x="879958" y="4067250"/>
            <a:ext cx="2841346" cy="194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passing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B752981-9F46-0D9C-8BAE-02037BB9B37B}"/>
              </a:ext>
            </a:extLst>
          </p:cNvPr>
          <p:cNvSpPr txBox="1">
            <a:spLocks/>
          </p:cNvSpPr>
          <p:nvPr/>
        </p:nvSpPr>
        <p:spPr>
          <a:xfrm>
            <a:off x="6417390" y="4067250"/>
            <a:ext cx="2841346" cy="194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illustrating all previous unit tests still pass after code changes</a:t>
            </a:r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5BE7F7D-1FDB-3995-C06F-BB3511E42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92" y="2432332"/>
            <a:ext cx="6207430" cy="4693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05228F-7829-3D6A-85BF-44A87A2F7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86" y="5250363"/>
            <a:ext cx="4600575" cy="323850"/>
          </a:xfrm>
          <a:prstGeom prst="rect">
            <a:avLst/>
          </a:prstGeom>
        </p:spPr>
      </p:pic>
      <p:pic>
        <p:nvPicPr>
          <p:cNvPr id="11" name="Picture 1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93E9D1FE-4830-EC4C-B3C0-79778C779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831" y="4598944"/>
            <a:ext cx="3296695" cy="196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516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C63AB-4038-5427-6BFD-2676F5953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EE136-C076-0EB7-1FD5-53F876AA3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/>
              <a:t>Test ID: T-MUL-CPLX1</a:t>
            </a:r>
            <a:endParaRPr lang="en-US"/>
          </a:p>
          <a:p>
            <a:r>
              <a:rPr lang="en-US" sz="1600">
                <a:ea typeface="+mj-lt"/>
                <a:cs typeface="+mj-lt"/>
              </a:rPr>
              <a:t>Statement of unit test: Verify that multiplying two complex numbers returns the correct complex product.</a:t>
            </a:r>
            <a:endParaRPr lang="en-US"/>
          </a:p>
          <a:p>
            <a:r>
              <a:rPr lang="en-US" sz="1600">
                <a:ea typeface="+mj-lt"/>
                <a:cs typeface="+mj-lt"/>
              </a:rPr>
              <a:t>Expected results: </a:t>
            </a:r>
            <a:r>
              <a:rPr lang="en-US" sz="1600">
                <a:latin typeface="Aptos Display"/>
              </a:rPr>
              <a:t>11 + j2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A6DDF-7879-0547-583C-5E68F6431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346" cy="4351338"/>
          </a:xfrm>
        </p:spPr>
        <p:txBody>
          <a:bodyPr>
            <a:normAutofit/>
          </a:bodyPr>
          <a:lstStyle/>
          <a:p>
            <a:r>
              <a:rPr lang="en-US" sz="1100" dirty="0"/>
              <a:t>Screen capture of unit test code: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9E28185-D98C-BA84-1C23-4DB6D0F88F05}"/>
              </a:ext>
            </a:extLst>
          </p:cNvPr>
          <p:cNvSpPr txBox="1">
            <a:spLocks/>
          </p:cNvSpPr>
          <p:nvPr/>
        </p:nvSpPr>
        <p:spPr>
          <a:xfrm>
            <a:off x="7788707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Code changes</a:t>
            </a:r>
            <a:br>
              <a:rPr lang="en-US" sz="1100" dirty="0"/>
            </a:br>
            <a:endParaRPr lang="en-US" sz="1100" dirty="0"/>
          </a:p>
          <a:p>
            <a:pPr marL="0" indent="0">
              <a:buNone/>
            </a:pPr>
            <a:r>
              <a:rPr lang="en-US" sz="1100"/>
              <a:t>None required. Python's a * b handles this natively.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E9557C6-4DD2-5A5D-31C2-F4A2DB5CD21D}"/>
              </a:ext>
            </a:extLst>
          </p:cNvPr>
          <p:cNvSpPr txBox="1">
            <a:spLocks/>
          </p:cNvSpPr>
          <p:nvPr/>
        </p:nvSpPr>
        <p:spPr>
          <a:xfrm>
            <a:off x="879958" y="4067250"/>
            <a:ext cx="2841346" cy="194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passing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84C3600-C570-F190-6549-65270EC7F68E}"/>
              </a:ext>
            </a:extLst>
          </p:cNvPr>
          <p:cNvSpPr txBox="1">
            <a:spLocks/>
          </p:cNvSpPr>
          <p:nvPr/>
        </p:nvSpPr>
        <p:spPr>
          <a:xfrm>
            <a:off x="6417390" y="4067250"/>
            <a:ext cx="2841346" cy="194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illustrating all previous unit tests still pass after code changes</a:t>
            </a:r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035F27B-8CDC-F4FA-3FC0-99393647F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50" y="2300483"/>
            <a:ext cx="7206249" cy="5033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C9C7A8-0A37-BBD8-DD13-C61D2D412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09" y="5407851"/>
            <a:ext cx="4600575" cy="342900"/>
          </a:xfrm>
          <a:prstGeom prst="rect">
            <a:avLst/>
          </a:prstGeom>
        </p:spPr>
      </p:pic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7E4086E-D30B-0BB2-BF2C-F5DD32F70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136" y="4515958"/>
            <a:ext cx="3332576" cy="213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929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27C22-90D3-E6F2-283A-D1D2D7F73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6B906-D500-3858-6ED4-93A9DC28A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/>
              <a:t>Test ID: T-DIV-CPLX1</a:t>
            </a:r>
            <a:endParaRPr lang="en-US"/>
          </a:p>
          <a:p>
            <a:r>
              <a:rPr lang="en-US" sz="1600">
                <a:ea typeface="+mj-lt"/>
                <a:cs typeface="+mj-lt"/>
              </a:rPr>
              <a:t>Statement of unit test: Verify that dividing two complex numbers returns the correct complex quotient.</a:t>
            </a:r>
            <a:endParaRPr lang="en-US"/>
          </a:p>
          <a:p>
            <a:r>
              <a:rPr lang="en-US" sz="1600">
                <a:ea typeface="+mj-lt"/>
                <a:cs typeface="+mj-lt"/>
              </a:rPr>
              <a:t>Expected results: </a:t>
            </a:r>
            <a:r>
              <a:rPr lang="en-US" sz="1600">
                <a:latin typeface="Aptos Display"/>
              </a:rPr>
              <a:t>3 - j1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FA8C5-160D-C3CE-2143-13F6667AB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346" cy="4351338"/>
          </a:xfrm>
        </p:spPr>
        <p:txBody>
          <a:bodyPr>
            <a:normAutofit/>
          </a:bodyPr>
          <a:lstStyle/>
          <a:p>
            <a:r>
              <a:rPr lang="en-US" sz="1100" dirty="0"/>
              <a:t>Screen capture of unit test code: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73965B4-3800-389A-2B85-58C4F88FE889}"/>
              </a:ext>
            </a:extLst>
          </p:cNvPr>
          <p:cNvSpPr txBox="1">
            <a:spLocks/>
          </p:cNvSpPr>
          <p:nvPr/>
        </p:nvSpPr>
        <p:spPr>
          <a:xfrm>
            <a:off x="7788707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Code changes</a:t>
            </a:r>
            <a:br>
              <a:rPr lang="en-US" sz="1100" dirty="0"/>
            </a:br>
            <a:endParaRPr lang="en-US" sz="1100" dirty="0"/>
          </a:p>
          <a:p>
            <a:pPr marL="0" indent="0">
              <a:buNone/>
            </a:pPr>
            <a:r>
              <a:rPr lang="en-US" sz="1100"/>
              <a:t>None required. Python's a / b handles this natively.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65FAFC8-A81E-FC23-C0EA-8ECCE3B20A0F}"/>
              </a:ext>
            </a:extLst>
          </p:cNvPr>
          <p:cNvSpPr txBox="1">
            <a:spLocks/>
          </p:cNvSpPr>
          <p:nvPr/>
        </p:nvSpPr>
        <p:spPr>
          <a:xfrm>
            <a:off x="879958" y="4067250"/>
            <a:ext cx="2841346" cy="194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passing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491E744-11A4-59D1-743C-9AFFD58121A2}"/>
              </a:ext>
            </a:extLst>
          </p:cNvPr>
          <p:cNvSpPr txBox="1">
            <a:spLocks/>
          </p:cNvSpPr>
          <p:nvPr/>
        </p:nvSpPr>
        <p:spPr>
          <a:xfrm>
            <a:off x="6417390" y="4067250"/>
            <a:ext cx="2841346" cy="194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illustrating all previous unit tests still pass after code changes</a:t>
            </a:r>
          </a:p>
        </p:txBody>
      </p:sp>
      <p:pic>
        <p:nvPicPr>
          <p:cNvPr id="4" name="Picture 3" descr="A black background with orange and green text&#10;&#10;AI-generated content may be incorrect.">
            <a:extLst>
              <a:ext uri="{FF2B5EF4-FFF2-40B4-BE49-F238E27FC236}">
                <a16:creationId xmlns:a16="http://schemas.microsoft.com/office/drawing/2014/main" id="{A9BBB3E9-9E8D-9A3D-4C99-32A0E5A30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05" y="2250118"/>
            <a:ext cx="5364141" cy="3640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8EA05A-6CDF-919B-3B04-15EDC9A6C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412" y="5300728"/>
            <a:ext cx="4600575" cy="285750"/>
          </a:xfrm>
          <a:prstGeom prst="rect">
            <a:avLst/>
          </a:prstGeom>
        </p:spPr>
      </p:pic>
      <p:pic>
        <p:nvPicPr>
          <p:cNvPr id="11" name="Picture 1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B67FB8F-9F8E-3A1B-3E67-24A3C3A33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377" y="4501084"/>
            <a:ext cx="3106586" cy="215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619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C3278-6793-7012-03CA-B3A647F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F1E77-93D9-30C0-7CB5-4A4C5581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/>
              <a:t>Test ID: T-DIV-ERR2</a:t>
            </a:r>
            <a:endParaRPr lang="en-US"/>
          </a:p>
          <a:p>
            <a:r>
              <a:rPr lang="en-US" sz="1600">
                <a:ea typeface="+mj-lt"/>
                <a:cs typeface="+mj-lt"/>
              </a:rPr>
              <a:t>Statement of unit test: Verify that dividing a complex number by zero produces a division-by-zero error.</a:t>
            </a:r>
            <a:endParaRPr lang="en-US"/>
          </a:p>
          <a:p>
            <a:r>
              <a:rPr lang="en-US" sz="1600">
                <a:ea typeface="+mj-lt"/>
                <a:cs typeface="+mj-lt"/>
              </a:rPr>
              <a:t>Expected results: </a:t>
            </a:r>
            <a:r>
              <a:rPr lang="en-US" sz="1600">
                <a:latin typeface="Aptos Display"/>
              </a:rPr>
              <a:t>Error: division by zero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26FAB-7F9B-4409-1D18-15C959FCF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346" cy="4351338"/>
          </a:xfrm>
        </p:spPr>
        <p:txBody>
          <a:bodyPr>
            <a:normAutofit/>
          </a:bodyPr>
          <a:lstStyle/>
          <a:p>
            <a:r>
              <a:rPr lang="en-US" sz="1100" dirty="0"/>
              <a:t>Screen capture of unit test code: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ECE9DC1-3207-EB2F-77E5-7BC03AB9CE14}"/>
              </a:ext>
            </a:extLst>
          </p:cNvPr>
          <p:cNvSpPr txBox="1">
            <a:spLocks/>
          </p:cNvSpPr>
          <p:nvPr/>
        </p:nvSpPr>
        <p:spPr>
          <a:xfrm>
            <a:off x="7788707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Code changes</a:t>
            </a:r>
            <a:br>
              <a:rPr lang="en-US" sz="1100" dirty="0"/>
            </a:br>
            <a:endParaRPr lang="en-US" sz="1100" dirty="0"/>
          </a:p>
          <a:p>
            <a:pPr marL="0" indent="0">
              <a:buNone/>
            </a:pPr>
            <a:r>
              <a:rPr lang="en-US" sz="1100" dirty="0"/>
              <a:t>None required. The existing check if b == 0: works because Python evaluates 0+0j == 0 </a:t>
            </a:r>
            <a:r>
              <a:rPr lang="en-US" sz="1100"/>
              <a:t>as True.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8CB83DD-B24C-3618-7236-B063EE7C2372}"/>
              </a:ext>
            </a:extLst>
          </p:cNvPr>
          <p:cNvSpPr txBox="1">
            <a:spLocks/>
          </p:cNvSpPr>
          <p:nvPr/>
        </p:nvSpPr>
        <p:spPr>
          <a:xfrm>
            <a:off x="879958" y="4067250"/>
            <a:ext cx="2841346" cy="194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passing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40BC966-C358-4642-CFD8-813B113266B8}"/>
              </a:ext>
            </a:extLst>
          </p:cNvPr>
          <p:cNvSpPr txBox="1">
            <a:spLocks/>
          </p:cNvSpPr>
          <p:nvPr/>
        </p:nvSpPr>
        <p:spPr>
          <a:xfrm>
            <a:off x="6417390" y="4067250"/>
            <a:ext cx="2841346" cy="194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illustrating all previous unit tests still pass after code changes</a:t>
            </a:r>
          </a:p>
        </p:txBody>
      </p:sp>
      <p:pic>
        <p:nvPicPr>
          <p:cNvPr id="5" name="Picture 4" descr="A black background with green and orange text&#10;&#10;AI-generated content may be incorrect.">
            <a:extLst>
              <a:ext uri="{FF2B5EF4-FFF2-40B4-BE49-F238E27FC236}">
                <a16:creationId xmlns:a16="http://schemas.microsoft.com/office/drawing/2014/main" id="{1ED78507-E926-F1A7-A0CE-B60E75482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00" y="2358350"/>
            <a:ext cx="7041716" cy="4502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FD6D0C-7010-6D05-C1DF-E06899087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85" y="5325454"/>
            <a:ext cx="5467350" cy="257175"/>
          </a:xfrm>
          <a:prstGeom prst="rect">
            <a:avLst/>
          </a:prstGeom>
        </p:spPr>
      </p:pic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A08A8F2-3B2A-E5EF-6C9C-A89AABF9B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342" y="4404725"/>
            <a:ext cx="3275426" cy="235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982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15C87-723D-0FAF-014B-74BF4AA61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D3D19-12F4-4B5B-0D48-F61529C72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/>
              <a:t>Test ID: T-DEL-REAL1</a:t>
            </a:r>
            <a:endParaRPr lang="en-US"/>
          </a:p>
          <a:p>
            <a:r>
              <a:rPr lang="en-US" sz="1600"/>
              <a:t>Statement of unit test: Verify that deleting from the stack removes the top real item without printing it.</a:t>
            </a:r>
            <a:endParaRPr lang="en-US"/>
          </a:p>
          <a:p>
            <a:r>
              <a:rPr lang="en-US" sz="1600"/>
              <a:t>Expected results: 1 + j0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30175-DDA7-E834-C4D4-4CCE8A84A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346" cy="4351338"/>
          </a:xfrm>
        </p:spPr>
        <p:txBody>
          <a:bodyPr>
            <a:normAutofit/>
          </a:bodyPr>
          <a:lstStyle/>
          <a:p>
            <a:r>
              <a:rPr lang="en-US" sz="1100" dirty="0"/>
              <a:t>Screen capture of unit test code: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4276C1-C042-B9BD-C20B-5104B10C84D0}"/>
              </a:ext>
            </a:extLst>
          </p:cNvPr>
          <p:cNvSpPr txBox="1">
            <a:spLocks/>
          </p:cNvSpPr>
          <p:nvPr/>
        </p:nvSpPr>
        <p:spPr>
          <a:xfrm>
            <a:off x="4993579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failing: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979667E-CBD0-9E5D-7CC8-73113A673F2B}"/>
              </a:ext>
            </a:extLst>
          </p:cNvPr>
          <p:cNvSpPr txBox="1">
            <a:spLocks/>
          </p:cNvSpPr>
          <p:nvPr/>
        </p:nvSpPr>
        <p:spPr>
          <a:xfrm>
            <a:off x="8874296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of code changes highlighted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6311DB-36C9-4632-8477-E04E1889D250}"/>
              </a:ext>
            </a:extLst>
          </p:cNvPr>
          <p:cNvSpPr txBox="1">
            <a:spLocks/>
          </p:cNvSpPr>
          <p:nvPr/>
        </p:nvSpPr>
        <p:spPr>
          <a:xfrm>
            <a:off x="879958" y="4067250"/>
            <a:ext cx="2841346" cy="194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passing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5D90434-98A5-DC6D-3A66-C4CE7E1CDA8E}"/>
              </a:ext>
            </a:extLst>
          </p:cNvPr>
          <p:cNvSpPr txBox="1">
            <a:spLocks/>
          </p:cNvSpPr>
          <p:nvPr/>
        </p:nvSpPr>
        <p:spPr>
          <a:xfrm>
            <a:off x="6417390" y="4067250"/>
            <a:ext cx="2841346" cy="194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illustrating all previous unit tests still pass after code changes</a:t>
            </a:r>
          </a:p>
        </p:txBody>
      </p:sp>
      <p:pic>
        <p:nvPicPr>
          <p:cNvPr id="5" name="Picture 4" descr="A black background with green and white text&#10;&#10;AI-generated content may be incorrect.">
            <a:extLst>
              <a:ext uri="{FF2B5EF4-FFF2-40B4-BE49-F238E27FC236}">
                <a16:creationId xmlns:a16="http://schemas.microsoft.com/office/drawing/2014/main" id="{B4EABB57-06DE-5F58-C451-8CA8B1C23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73" y="2627920"/>
            <a:ext cx="4066394" cy="266049"/>
          </a:xfrm>
          <a:prstGeom prst="rect">
            <a:avLst/>
          </a:prstGeom>
        </p:spPr>
      </p:pic>
      <p:pic>
        <p:nvPicPr>
          <p:cNvPr id="6" name="Picture 5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3C9FFE90-7E6D-D367-9984-C8B3BE280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087" y="2171113"/>
            <a:ext cx="3797606" cy="1607639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2A12F5-F2BD-0F02-BD59-7798E3AC6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973" y="2629486"/>
            <a:ext cx="4017725" cy="5134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CBB201-60F1-1739-E94F-F9A933029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276" y="5149829"/>
            <a:ext cx="4972050" cy="295275"/>
          </a:xfrm>
          <a:prstGeom prst="rect">
            <a:avLst/>
          </a:prstGeom>
        </p:spPr>
      </p:pic>
      <p:pic>
        <p:nvPicPr>
          <p:cNvPr id="11" name="Picture 1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14E26D1-CDDB-2491-D405-6F56E0081F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242" y="4407074"/>
            <a:ext cx="2967625" cy="232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777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B0C4F-435E-2844-375C-920AB69C6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43F1-CA4E-D1AC-E307-CF6DFF4A4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/>
              <a:t>Test ID: T-DEL-CPLX1</a:t>
            </a:r>
            <a:endParaRPr lang="en-US"/>
          </a:p>
          <a:p>
            <a:r>
              <a:rPr lang="en-US" sz="1600">
                <a:ea typeface="+mj-lt"/>
                <a:cs typeface="+mj-lt"/>
              </a:rPr>
              <a:t>Statement of unit test: Verify that deleting from a stack with complex numbers removes the top complex item.</a:t>
            </a:r>
            <a:endParaRPr lang="en-US"/>
          </a:p>
          <a:p>
            <a:r>
              <a:rPr lang="en-US" sz="1600">
                <a:ea typeface="+mj-lt"/>
                <a:cs typeface="+mj-lt"/>
              </a:rPr>
              <a:t>Expected results: </a:t>
            </a:r>
            <a:r>
              <a:rPr lang="en-US" sz="1600">
                <a:latin typeface="Aptos Display"/>
              </a:rPr>
              <a:t>1 + j1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D1F0E-CEB7-F872-603D-C2A2C2C30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346" cy="4351338"/>
          </a:xfrm>
        </p:spPr>
        <p:txBody>
          <a:bodyPr>
            <a:normAutofit/>
          </a:bodyPr>
          <a:lstStyle/>
          <a:p>
            <a:r>
              <a:rPr lang="en-US" sz="1100" dirty="0"/>
              <a:t>Screen capture of unit test code: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6F694AE-DB39-3019-AC20-3BD296588080}"/>
              </a:ext>
            </a:extLst>
          </p:cNvPr>
          <p:cNvSpPr txBox="1">
            <a:spLocks/>
          </p:cNvSpPr>
          <p:nvPr/>
        </p:nvSpPr>
        <p:spPr>
          <a:xfrm>
            <a:off x="7788707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/>
              <a:t>Code changes</a:t>
            </a:r>
            <a:br>
              <a:rPr lang="en-US" sz="1100" dirty="0"/>
            </a:br>
            <a:endParaRPr lang="en-US" sz="1100" dirty="0"/>
          </a:p>
          <a:p>
            <a:pPr marL="0" indent="0">
              <a:buNone/>
            </a:pPr>
            <a:r>
              <a:rPr lang="en-US" sz="1100"/>
              <a:t>None required. stack.pop() naturally removes the top item regardless of whether it is a float or a complex number.</a:t>
            </a: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5B38C58-B266-155B-E020-8839F3D27865}"/>
              </a:ext>
            </a:extLst>
          </p:cNvPr>
          <p:cNvSpPr txBox="1">
            <a:spLocks/>
          </p:cNvSpPr>
          <p:nvPr/>
        </p:nvSpPr>
        <p:spPr>
          <a:xfrm>
            <a:off x="879958" y="4067250"/>
            <a:ext cx="2841346" cy="194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passing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5127E98-A563-ED6A-279E-27006CC0FC3D}"/>
              </a:ext>
            </a:extLst>
          </p:cNvPr>
          <p:cNvSpPr txBox="1">
            <a:spLocks/>
          </p:cNvSpPr>
          <p:nvPr/>
        </p:nvSpPr>
        <p:spPr>
          <a:xfrm>
            <a:off x="6417390" y="4067250"/>
            <a:ext cx="2841346" cy="194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illustrating all previous unit tests still pass after code changes</a:t>
            </a:r>
          </a:p>
        </p:txBody>
      </p:sp>
      <p:pic>
        <p:nvPicPr>
          <p:cNvPr id="4" name="Picture 3" descr="A black background with green and white text&#10;&#10;AI-generated content may be incorrect.">
            <a:extLst>
              <a:ext uri="{FF2B5EF4-FFF2-40B4-BE49-F238E27FC236}">
                <a16:creationId xmlns:a16="http://schemas.microsoft.com/office/drawing/2014/main" id="{6957B528-EE3D-0AFA-A577-BE8BEDF5A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12" y="2408715"/>
            <a:ext cx="6747745" cy="4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CFEFF9-08DC-CC86-DF02-0FE786C97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63" y="5450714"/>
            <a:ext cx="5038725" cy="257175"/>
          </a:xfrm>
          <a:prstGeom prst="rect">
            <a:avLst/>
          </a:prstGeom>
        </p:spPr>
      </p:pic>
      <p:pic>
        <p:nvPicPr>
          <p:cNvPr id="11" name="Picture 1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D3C0766-7149-2C88-CD62-1F01A46A3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775" y="4501345"/>
            <a:ext cx="2853324" cy="235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336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073C1-FB5D-0D6C-A5E2-0F18A7185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2E51A-7458-45F0-7F01-B984926D5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600"/>
              <a:t>Test ID: T-DEL-ERR1</a:t>
            </a:r>
            <a:endParaRPr lang="en-US"/>
          </a:p>
          <a:p>
            <a:r>
              <a:rPr lang="en-US" sz="1600"/>
              <a:t>Statement of unit test: Verify that calling delete on an empty stack returns a stack underflow error.</a:t>
            </a:r>
            <a:endParaRPr lang="en-US"/>
          </a:p>
          <a:p>
            <a:r>
              <a:rPr lang="en-US" sz="1600"/>
              <a:t>Expected results: Error: stack underflow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ED1FE-015C-52D4-1332-B9663C624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1346" cy="4351338"/>
          </a:xfrm>
        </p:spPr>
        <p:txBody>
          <a:bodyPr>
            <a:normAutofit/>
          </a:bodyPr>
          <a:lstStyle/>
          <a:p>
            <a:r>
              <a:rPr lang="en-US" sz="1100" dirty="0"/>
              <a:t>Screen capture of unit test code: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341F89-3DA2-C87E-801B-E7EDA200A8BB}"/>
              </a:ext>
            </a:extLst>
          </p:cNvPr>
          <p:cNvSpPr txBox="1">
            <a:spLocks/>
          </p:cNvSpPr>
          <p:nvPr/>
        </p:nvSpPr>
        <p:spPr>
          <a:xfrm>
            <a:off x="4993579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failing: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0EC0798-2CF0-AD46-9AE6-64976F6CA347}"/>
              </a:ext>
            </a:extLst>
          </p:cNvPr>
          <p:cNvSpPr txBox="1">
            <a:spLocks/>
          </p:cNvSpPr>
          <p:nvPr/>
        </p:nvSpPr>
        <p:spPr>
          <a:xfrm>
            <a:off x="8874296" y="1825625"/>
            <a:ext cx="28413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of code changes highlighted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FB85BA5-1306-6069-D202-0CACA56B6337}"/>
              </a:ext>
            </a:extLst>
          </p:cNvPr>
          <p:cNvSpPr txBox="1">
            <a:spLocks/>
          </p:cNvSpPr>
          <p:nvPr/>
        </p:nvSpPr>
        <p:spPr>
          <a:xfrm>
            <a:off x="879958" y="4067250"/>
            <a:ext cx="2841346" cy="1947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demonstrating unit test passing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5216403-E5FF-D666-FA86-29FE7850C05A}"/>
              </a:ext>
            </a:extLst>
          </p:cNvPr>
          <p:cNvSpPr txBox="1">
            <a:spLocks/>
          </p:cNvSpPr>
          <p:nvPr/>
        </p:nvSpPr>
        <p:spPr>
          <a:xfrm>
            <a:off x="6417390" y="4067250"/>
            <a:ext cx="2841346" cy="194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Screen capture illustrating all previous unit tests still pass after code changes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69CCB2-4605-3F63-480D-451BC5411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2" y="2630661"/>
            <a:ext cx="3928738" cy="438020"/>
          </a:xfrm>
          <a:prstGeom prst="rect">
            <a:avLst/>
          </a:prstGeom>
        </p:spPr>
      </p:pic>
      <p:pic>
        <p:nvPicPr>
          <p:cNvPr id="14" name="Picture 13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711071B3-17E5-75B2-29D9-C58C0E273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349" y="2418958"/>
            <a:ext cx="4034425" cy="1592111"/>
          </a:xfrm>
          <a:prstGeom prst="rect">
            <a:avLst/>
          </a:prstGeom>
        </p:spPr>
      </p:pic>
      <p:pic>
        <p:nvPicPr>
          <p:cNvPr id="15" name="Picture 14" descr="A screen shot of a video game&#10;&#10;AI-generated content may be incorrect.">
            <a:extLst>
              <a:ext uri="{FF2B5EF4-FFF2-40B4-BE49-F238E27FC236}">
                <a16:creationId xmlns:a16="http://schemas.microsoft.com/office/drawing/2014/main" id="{3C9A44C8-7E17-ED83-D7BF-E9177AEAA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490" y="2664651"/>
            <a:ext cx="4015377" cy="5370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974D582-B5B7-5C33-56FA-D15D7231FA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2" y="5310253"/>
            <a:ext cx="5438775" cy="266700"/>
          </a:xfrm>
          <a:prstGeom prst="rect">
            <a:avLst/>
          </a:prstGeom>
        </p:spPr>
      </p:pic>
      <p:pic>
        <p:nvPicPr>
          <p:cNvPr id="17" name="Picture 1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0132945-2D4B-38EE-2CDC-5A5085A6CC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7712" y="4446023"/>
            <a:ext cx="2670002" cy="235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452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0A04FE8FC10844A6F7D9CA5BA60BD8" ma:contentTypeVersion="9" ma:contentTypeDescription="Create a new document." ma:contentTypeScope="" ma:versionID="eaf6df075222235727ce710bd357b586">
  <xsd:schema xmlns:xsd="http://www.w3.org/2001/XMLSchema" xmlns:xs="http://www.w3.org/2001/XMLSchema" xmlns:p="http://schemas.microsoft.com/office/2006/metadata/properties" xmlns:ns3="c6131e55-4a54-4895-b07c-8d9f3ac10b32" targetNamespace="http://schemas.microsoft.com/office/2006/metadata/properties" ma:root="true" ma:fieldsID="e9eb41af6dbb7f22ff708596a319a6bc" ns3:_="">
    <xsd:import namespace="c6131e55-4a54-4895-b07c-8d9f3ac10b3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131e55-4a54-4895-b07c-8d9f3ac10b3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6131e55-4a54-4895-b07c-8d9f3ac10b3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9D53C1-9495-4F8D-B9DC-745B01E9E7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131e55-4a54-4895-b07c-8d9f3ac10b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23D0083-F0B6-4A1E-B478-BAA1278739AE}">
  <ds:schemaRefs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openxmlformats.org/package/2006/metadata/core-properties"/>
    <ds:schemaRef ds:uri="c6131e55-4a54-4895-b07c-8d9f3ac10b32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1EEBBC9E-535F-4EDB-B3EC-58C626FFDDC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743</Words>
  <Application>Microsoft Office PowerPoint</Application>
  <PresentationFormat>Widescreen</PresentationFormat>
  <Paragraphs>65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ECSE 428  Assignment A TDD Steps</vt:lpstr>
      <vt:lpstr>Test ID: T-PUSH-REAL1 Statement of unit test: Verify that pushing a real number onto the stack and popping it returns the same number. Expected results: 5 + j0</vt:lpstr>
      <vt:lpstr>Test ID: T-POP-ERR1 Statement of unit test: Verify that popping from an empty stack produces a stack underflow error. Expected results: Error: stack underflow </vt:lpstr>
      <vt:lpstr>Test ID: T-ADD-REAL1 Statement of unit test: Verify that adding two real numbers (2 and 5) returns the correct result. Expected results: 7 + j0</vt:lpstr>
      <vt:lpstr>Test ID: T-ADD-ERR1 Statement of unit test: Verify that adding numbers when the stack contains fewer than two operands produces a stack underflow error. Expected results: Error: stack underflow</vt:lpstr>
      <vt:lpstr>Test ID: T-SUB-REAL1 Statement of unit test: Verify that subtracting 2 from 5 returns the correct result. Expected results: 3 + j0</vt:lpstr>
      <vt:lpstr>Test ID: T-SUB-ERR1 Statement of unit test: Verify that subtracting when the stack contains fewer than two operands produces a stack underflow error. Expected results: Error: stack underflow</vt:lpstr>
      <vt:lpstr>Test ID: T-MUL-REAL1 Statement of unit test: Verify that multiplying 3 by -2 returns the correct result. Expected results: -6 + j0</vt:lpstr>
      <vt:lpstr>Test ID: T-MUL-ERR1 Statement of unit test: Verify that multiplying when the stack contains fewer than two operands produces a stack underflow error. Expected results: Error: stack underflow</vt:lpstr>
      <vt:lpstr>Test ID: T-DIV-REAL1 Statement of unit test: Verify that dividing 8 by 2 returns the correct result. Expected results: 4 + j0</vt:lpstr>
      <vt:lpstr>Test ID: T-DIV-ERR1 Statement of unit test: Verify that dividing a real number by zero produces a division-by-zero error. Expected results: Error: division by zero</vt:lpstr>
      <vt:lpstr>Test ID: T-PUSH-CPLX1 Statement of unit test: Verify that pushing a compact complex number onto the stack and popping it returns the formatted complex number. Expected results: -2.5 - j0.25</vt:lpstr>
      <vt:lpstr>Test ID: T-PUSH-CPLX2 Statement of unit test: Verify that pushing a spaced complex number parses correctly and ignores the spaces. Expected results: 3 + j4</vt:lpstr>
      <vt:lpstr>Test ID: T-ADD-CPLX1 Statement of unit test: Verify that adding two complex numbers returns the correct complex sum. Expected results: 4 + j2</vt:lpstr>
      <vt:lpstr>Test ID: T-SUB-CPLX1 Statement of unit test: Verify that subtracting two complex numbers returns the correct complex difference. Expected results: 2 + j6</vt:lpstr>
      <vt:lpstr>Test ID: T-MUL-CPLX1 Statement of unit test: Verify that multiplying two complex numbers returns the correct complex product. Expected results: 11 + j2</vt:lpstr>
      <vt:lpstr>Test ID: T-DIV-CPLX1 Statement of unit test: Verify that dividing two complex numbers returns the correct complex quotient. Expected results: 3 - j1</vt:lpstr>
      <vt:lpstr>Test ID: T-DIV-ERR2 Statement of unit test: Verify that dividing a complex number by zero produces a division-by-zero error. Expected results: Error: division by zero</vt:lpstr>
      <vt:lpstr>Test ID: T-DEL-REAL1 Statement of unit test: Verify that deleting from the stack removes the top real item without printing it. Expected results: 1 + j0</vt:lpstr>
      <vt:lpstr>Test ID: T-DEL-CPLX1 Statement of unit test: Verify that deleting from a stack with complex numbers removes the top complex item. Expected results: 1 + j1</vt:lpstr>
      <vt:lpstr>Test ID: T-DEL-ERR1 Statement of unit test: Verify that calling delete on an empty stack returns a stack underflow error. Expected results: Error: stack underflow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Yanni Klironomos</dc:creator>
  <cp:lastModifiedBy>Yanni Klironomos</cp:lastModifiedBy>
  <cp:revision>206</cp:revision>
  <dcterms:created xsi:type="dcterms:W3CDTF">2026-10-11T22:40:44Z</dcterms:created>
  <dcterms:modified xsi:type="dcterms:W3CDTF">2026-10-27T18:54:57Z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0x010100190A04FE8FC10844A6F7D9CA5BA60BD8</vt:lpwstr>
  </property>
</Properties>
</file>